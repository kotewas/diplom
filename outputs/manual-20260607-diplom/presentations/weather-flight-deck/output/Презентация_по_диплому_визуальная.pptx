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титульный слайд можно поставить фото самолета на фоне облаков или скриншот карты маршрута из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вставить диаграмму причин задержек рейсов. Если нет точной официальной статистики, лучше подписать как иллюстративную статистику из анализа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 речи можно раскрыть задачи подробнее, но на слайде оставить только короткие 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Подойдут фотографии: грозовое облако над аэропортом, туман на ВПП, снегопад у самолета, карта погодного радара.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Лучше всего вставить два настоящих скриншота из приложения: карточку рейса и карту маршрута.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заменить схему на скриншот docker-compose или оставить как архитектурную схему.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не нужно читать формулы целиком. Скажи: система отдельно оценивает вылет, прибытие и маршрут, затем переводит баллы в понятную рекомендацию.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есть скриншот таблицы истории или карточки изменения риска, лучше вставить его вместо схемы таблиц.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хорошо смотрятся два скриншота: уведомление о fallback и страница запроса метеорологу.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 для фотографий. Лучше вставить реальные скриншоты интерфейса, потому что они доказывают, что система разработана.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статистики можно сделать простую диаграмму: все ключевые сценарии тестирования со статусом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можно оставить перед демонстрацией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640080"/>
            <a:ext cx="5212080" cy="3657600"/>
          </a:xfrm>
          <a:prstGeom prst="arc">
            <a:avLst/>
          </a:prstGeom>
          <a:solidFill>
            <a:srgbClr val="F5F8F6">
              <a:alpha val="0"/>
            </a:srgbClr>
          </a:solidFill>
          <a:ln w="50800">
            <a:solidFill>
              <a:srgbClr val="1B8A78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349240" y="3246120"/>
            <a:ext cx="384048" cy="384048"/>
          </a:xfrm>
          <a:prstGeom prst="ellipse">
            <a:avLst/>
          </a:prstGeom>
          <a:solidFill>
            <a:srgbClr val="42A6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1124712"/>
            <a:ext cx="384048" cy="384048"/>
          </a:xfrm>
          <a:prstGeom prst="ellipse">
            <a:avLst/>
          </a:prstGeom>
          <a:solidFill>
            <a:srgbClr val="D94C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2240280"/>
            <a:ext cx="576072" cy="5760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2350008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34072" y="295351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2211F"/>
                </a:solidFill>
              </a:rPr>
              <a:t>ветер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8458200" y="2788920"/>
            <a:ext cx="576072" cy="576072"/>
          </a:xfrm>
          <a:prstGeom prst="ellipse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2898648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48472" y="350215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2211F"/>
                </a:solidFill>
              </a:rPr>
              <a:t>видимость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9372600" y="2286000"/>
            <a:ext cx="576072" cy="5760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395728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62872" y="299923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2211F"/>
                </a:solidFill>
              </a:rPr>
              <a:t>осадки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8A78"/>
                </a:solidFill>
              </a:rPr>
              <a:t>ДИПЛОМНЫЙ ПРОЕКТ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1024128"/>
            <a:ext cx="6446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211F"/>
                </a:solidFill>
              </a:rPr>
              <a:t>Разработка информационной системы мониторинга и анализа погодных условий для авиационных рейсов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" y="287121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8"/>
                </a:solidFill>
              </a:rPr>
              <a:t>Поддержка диспетчера: от получения метеоданных до рекомендации по рейсу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892040"/>
            <a:ext cx="52303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184648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11F"/>
                </a:solidFill>
              </a:rPr>
              <a:t>Автор: Смирнова Екатерина Сергеевна   |   Руководитель: Маслов Игорь Олегович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96112" y="539496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C68"/>
                </a:solidFill>
              </a:rPr>
              <a:t>ГБПОУ «Тверской колледж им. А.Н.Коняева» · Тверь · 2026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1018520" y="6327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это актуально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Погодные данные нужно быстро превратить в решение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B8A78"/>
                </a:solidFill>
              </a:rPr>
              <a:t>≈30%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C68"/>
                </a:solidFill>
              </a:rPr>
              <a:t>задержек и инцидентов в гражданской авиации связывают с погодными условиями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96012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088136"/>
            <a:ext cx="2852928" cy="417880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9580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35424" y="473659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Статистика задержек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572000" y="49834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круговая диаграмма: погода / техника / аэропорт / прочее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818120" y="96012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170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1F"/>
                </a:solidFill>
              </a:rPr>
              <a:t>Ручная оценка занимает время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1536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C68"/>
                </a:solidFill>
              </a:rPr>
              <a:t>Диспетчер сопоставляет рейс, маршрут и метеоданные из разных источников.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818120" y="2267712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478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1F"/>
                </a:solidFill>
              </a:rPr>
              <a:t>Погода меняется перед вылетом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8437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C68"/>
                </a:solidFill>
              </a:rPr>
              <a:t>Особенно важны ветер, видимость, гроза, осадки и устаревшие данные.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818120" y="3575304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3785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1F"/>
                </a:solidFill>
              </a:rPr>
              <a:t>Решение должно быть объяснимым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2440" y="4151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C68"/>
                </a:solidFill>
              </a:rPr>
              <a:t>Система показывает факторы риска, а не только итоговый статус.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85800" y="56875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1F"/>
                </a:solidFill>
              </a:rPr>
              <a:t>Идея проекта: автоматизировать анализ, но оставить финальное решение за специалистом.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задачи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Одна система вместо ручной сверки источников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10835640" cy="109728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2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E1D3"/>
                </a:solidFill>
              </a:rPr>
              <a:t>Цель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Разработать веб-систему, которая получает метеоданные, рассчитывает риск рейса и формирует рекомендацию диспетчеру.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54203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77063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проанализировать предметную область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54203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77063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спроектировать архитектуру и БД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254203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0" y="277063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реализовать backend и frontend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95935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160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18795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интегрировать погодный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95935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160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418795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рассчитать риск по этапам полета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83880" y="3959352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4160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78"/>
                </a:solidFill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0" y="4187952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211F"/>
                </a:solidFill>
              </a:rPr>
              <a:t>проверить сценарии работы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влияет на риск рейса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Модель учитывает совокупность факторов, а не один параметр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886200" cy="4480560"/>
          </a:xfrm>
          <a:prstGeom prst="roundRect">
            <a:avLst>
              <a:gd name="adj" fmla="val 1412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179576"/>
            <a:ext cx="3630168" cy="422452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723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8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5256" y="487375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Фото погодных условий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941832" y="512064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туман, снег, гроза или сильный боковой ветер у ВПП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892040" y="114300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38344" y="1344168"/>
            <a:ext cx="475488" cy="4754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146304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41848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Ветер и порывы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41848" y="1627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особенно на взлете и посадке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8046720" y="114300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344168"/>
            <a:ext cx="475488" cy="475488"/>
          </a:xfrm>
          <a:prstGeom prst="ellipse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146304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96528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Видимость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96528" y="1627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туман, снег, сильный дождь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892040" y="246888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38344" y="2670048"/>
            <a:ext cx="475488" cy="47548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27889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4184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Осадки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41848" y="29535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ухудшение ВПП и видимости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8046720" y="246888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2670048"/>
            <a:ext cx="475488" cy="475488"/>
          </a:xfrm>
          <a:prstGeom prst="ellipse">
            <a:avLst/>
          </a:prstGeom>
          <a:solidFill>
            <a:srgbClr val="D94C43"/>
          </a:solidFill>
          <a:ln w="12700">
            <a:solidFill>
              <a:srgbClr val="D94C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27889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9652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Гроза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96528" y="29535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опасные зоны на маршруте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892040" y="379476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38344" y="3995928"/>
            <a:ext cx="475488" cy="47548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41148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41848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Обледенение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41848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температура и влажность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8046720" y="3794760"/>
            <a:ext cx="283464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93024" y="3995928"/>
            <a:ext cx="475488" cy="475488"/>
          </a:xfrm>
          <a:prstGeom prst="ellipse">
            <a:avLst/>
          </a:prstGeom>
          <a:solidFill>
            <a:srgbClr val="42A66A"/>
          </a:solidFill>
          <a:ln w="12700">
            <a:solidFill>
              <a:srgbClr val="42A6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93024" y="41148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796528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1F"/>
                </a:solidFill>
              </a:rPr>
              <a:t>Актуальность данных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96528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устаревшая погода повышает риск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4983480" y="53766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Главное для защиты: риск растет от сочетания факторов, поэтому система считает комплексную оценку.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система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От внешней погоды к понятной рекомендации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261872"/>
            <a:ext cx="199705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0817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8A78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55064"/>
            <a:ext cx="1722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Карточка рейса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4825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маршрут, время, тип ВС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64562" y="1655064"/>
            <a:ext cx="228600" cy="219456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4018" y="1261872"/>
            <a:ext cx="1997050" cy="1078992"/>
          </a:xfrm>
          <a:prstGeom prst="roundRect">
            <a:avLst>
              <a:gd name="adj" fmla="val 5085"/>
            </a:avLst>
          </a:prstGeom>
          <a:solidFill>
            <a:srgbClr val="DDEA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1178" y="140817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B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21178" y="1655064"/>
            <a:ext cx="1722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Погода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21178" y="204825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OpenWeather + справочник аэропортов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62779" y="1655064"/>
            <a:ext cx="228600" cy="219456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2235" y="1261872"/>
            <a:ext cx="1997050" cy="1078992"/>
          </a:xfrm>
          <a:prstGeom prst="roundRect">
            <a:avLst>
              <a:gd name="adj" fmla="val 5085"/>
            </a:avLst>
          </a:prstGeom>
          <a:solidFill>
            <a:srgbClr val="CFEDE5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9395" y="140817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8A78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9395" y="1655064"/>
            <a:ext cx="1722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Риск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9395" y="204825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вылет · маршрут · прибытие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60997" y="1655064"/>
            <a:ext cx="228600" cy="219456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0453" y="1261872"/>
            <a:ext cx="1997050" cy="1078992"/>
          </a:xfrm>
          <a:prstGeom prst="roundRect">
            <a:avLst>
              <a:gd name="adj" fmla="val 5085"/>
            </a:avLst>
          </a:prstGeom>
          <a:solidFill>
            <a:srgbClr val="FFE7BD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7613" y="140817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3B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17613" y="1655064"/>
            <a:ext cx="1722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Рекомендация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17613" y="204825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approve / delay / cancel / meteo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259214" y="1655064"/>
            <a:ext cx="228600" cy="219456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8670" y="1261872"/>
            <a:ext cx="199705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15830" y="140817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8A78"/>
                </a:solidFill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15830" y="1655064"/>
            <a:ext cx="1722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История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15830" y="2048256"/>
            <a:ext cx="172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решение и снимок данных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8680" y="2880360"/>
            <a:ext cx="4754880" cy="2514600"/>
          </a:xfrm>
          <a:prstGeom prst="roundRect">
            <a:avLst>
              <a:gd name="adj" fmla="val 2182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" y="3008376"/>
            <a:ext cx="4498848" cy="225856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9182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8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8136" y="473659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Скриншот карточки рейса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1124712" y="498348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форма создания рейса и итоговый риск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080760" y="2880360"/>
            <a:ext cx="4754880" cy="2514600"/>
          </a:xfrm>
          <a:prstGeom prst="roundRect">
            <a:avLst>
              <a:gd name="adj" fmla="val 2182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08776" y="3008376"/>
            <a:ext cx="4498848" cy="225856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9182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0216" y="473659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Скриншот карты маршрута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6336792" y="498348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Leaflet / OpenStreetMap с точками вылета и прилета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Три контейнера и внешние источники данных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CFEDE5"/>
          </a:solidFill>
          <a:ln w="12700">
            <a:solidFill>
              <a:srgbClr val="CFE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21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8A78"/>
                </a:solidFill>
              </a:rPr>
              <a:t>React SPA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C68"/>
                </a:solidFill>
              </a:rPr>
              <a:t>интерфейс диспетчера и метеоролога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2121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FF"/>
                </a:solidFill>
              </a:rPr>
              <a:t>Spring Boot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1888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C68"/>
                </a:solidFill>
              </a:rPr>
              <a:t>REST API, бизнес-логика, расчет риска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DFF4E7"/>
          </a:solidFill>
          <a:ln w="12700">
            <a:solidFill>
              <a:srgbClr val="DFF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121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A66A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2220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C68"/>
                </a:solidFill>
              </a:rPr>
              <a:t>рейсы, решения, история изменений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331720"/>
            <a:ext cx="320040" cy="256032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3528" y="2331720"/>
            <a:ext cx="320040" cy="256032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16052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407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FF"/>
                </a:solidFill>
              </a:rPr>
              <a:t>OpenWeather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44348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C68"/>
                </a:solidFill>
              </a:rPr>
              <a:t>ветер · видимость · осадки · давление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537960" y="416052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4074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8"/>
                </a:solidFill>
              </a:rPr>
              <a:t>OpenStreetMap + Leaflet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52560" y="44348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C68"/>
                </a:solidFill>
              </a:rPr>
              <a:t>карта маршрута и координаты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443984" y="5504688"/>
            <a:ext cx="3246120" cy="347472"/>
          </a:xfrm>
          <a:prstGeom prst="roundRect">
            <a:avLst>
              <a:gd name="adj" fmla="val 15789"/>
            </a:avLst>
          </a:prstGeom>
          <a:solidFill>
            <a:srgbClr val="EAF0EE"/>
          </a:solidFill>
          <a:ln w="12700">
            <a:solidFill>
              <a:srgbClr val="EAF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5591556"/>
            <a:ext cx="3026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24D"/>
                </a:solidFill>
              </a:rPr>
              <a:t>Docker / docker-compose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Алгоритм риска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0-100 баллов, три этапа полета, четыре рекомендации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115568"/>
            <a:ext cx="10561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4475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11F"/>
                </a:solidFill>
              </a:rPr>
              <a:t>Rитог = 0,4 · Rвылет + 0,4 · Rприбытие + 0,2 · Rмаршрут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2890418" cy="320040"/>
          </a:xfrm>
          <a:prstGeom prst="rect">
            <a:avLst/>
          </a:prstGeom>
          <a:solidFill>
            <a:srgbClr val="42A66A"/>
          </a:solidFill>
          <a:ln w="12700">
            <a:solidFill>
              <a:srgbClr val="42A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28904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2A66A"/>
                </a:solidFill>
              </a:rPr>
              <a:t>низкий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05840" y="3493008"/>
            <a:ext cx="28904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0-29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96258" y="2743200"/>
            <a:ext cx="2990088" cy="3200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6258" y="3246120"/>
            <a:ext cx="2990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6BFF"/>
                </a:solidFill>
              </a:rPr>
              <a:t>средний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3896258" y="3493008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30-59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86346" y="2743200"/>
            <a:ext cx="1993392" cy="3200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6346" y="324612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2A93B"/>
                </a:solidFill>
              </a:rPr>
              <a:t>высокий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886346" y="3493008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60-79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879738" y="2743200"/>
            <a:ext cx="2093062" cy="320040"/>
          </a:xfrm>
          <a:prstGeom prst="rect">
            <a:avLst/>
          </a:prstGeom>
          <a:solidFill>
            <a:srgbClr val="D94C43"/>
          </a:solidFill>
          <a:ln w="12700">
            <a:solidFill>
              <a:srgbClr val="D94C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9738" y="3246120"/>
            <a:ext cx="20930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94C43"/>
                </a:solidFill>
              </a:rPr>
              <a:t>критический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8879738" y="3493008"/>
            <a:ext cx="20930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C68"/>
                </a:solidFill>
              </a:rPr>
              <a:t>80-100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46634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DFF4E7"/>
          </a:solidFill>
          <a:ln w="12700">
            <a:solidFill>
              <a:srgbClr val="DFF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8280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2A66A"/>
                </a:solidFill>
              </a:rPr>
              <a:t>APPROVE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078992" y="50566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B6C68"/>
                </a:solidFill>
              </a:rPr>
              <a:t>рейс возможен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3657600" y="46634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E7BD"/>
          </a:solidFill>
          <a:ln w="12700">
            <a:solidFill>
              <a:srgbClr val="FFE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48280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2A93B"/>
                </a:solidFill>
              </a:rPr>
              <a:t>DELAY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822192" y="50566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B6C68"/>
                </a:solidFill>
              </a:rPr>
              <a:t>лучше задержать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9D8D5"/>
          </a:solidFill>
          <a:ln w="12700">
            <a:solidFill>
              <a:srgbClr val="F9D8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8280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94C43"/>
                </a:solidFill>
              </a:rPr>
              <a:t>CANCEL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565392" y="50566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B6C68"/>
                </a:solidFill>
              </a:rPr>
              <a:t>выполнение нежелательно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9144000" y="46634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48280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6BFF"/>
                </a:solidFill>
              </a:rPr>
              <a:t>REQUEST_METEO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308592" y="505663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B6C68"/>
                </a:solidFill>
              </a:rPr>
              <a:t>нужно уточнение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трассируемость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Решение можно проверить после изменения рейса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3063240" cy="37033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78"/>
                </a:solidFill>
              </a:rPr>
              <a:t>flights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084832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22199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номер рейса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1005840" y="2615184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75234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аэропорты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1005840" y="3145536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28269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время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005840" y="3675888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81304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риск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005840" y="4206240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34340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решение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343400" y="1234440"/>
            <a:ext cx="3063240" cy="37033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FF"/>
                </a:solidFill>
              </a:rPr>
              <a:t>flight_history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084832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222199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риск до / после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0" y="2615184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75234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снимок погоды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572000" y="3145536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328269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задержка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0" y="3675888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381304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комментарий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909560" y="1234440"/>
            <a:ext cx="3063240" cy="37033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A66A"/>
                </a:solidFill>
              </a:rPr>
              <a:t>airports.json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8160" y="2084832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02168" y="222199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IATA / ICAO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38160" y="2615184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275234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город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8138160" y="3145536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02168" y="328269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координаты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138160" y="3675888"/>
            <a:ext cx="2560320" cy="0"/>
          </a:xfrm>
          <a:prstGeom prst="line">
            <a:avLst/>
          </a:prstGeom>
          <a:noFill/>
          <a:ln w="10160">
            <a:solidFill>
              <a:srgbClr val="DCE7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2168" y="381304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2211F"/>
                </a:solidFill>
              </a:rPr>
              <a:t>тип площадки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914400" y="55046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Что показать на защите: история изменений доказывает, что система сохраняет не только итог, но и контекст принятого решения.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Отказоустойчивость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Система продолжает сценарий даже при сбое внешнего API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1874520" cy="25603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78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2121408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Запрос к OpenWeather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9992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координаты из справочника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679192" y="2542032"/>
            <a:ext cx="246888" cy="201168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508760"/>
            <a:ext cx="1874520" cy="25603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78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2121408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Кэш последних данных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29992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если ответ временно недоступен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919472" y="2542032"/>
            <a:ext cx="246888" cy="201168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508760"/>
            <a:ext cx="1874520" cy="2560320"/>
          </a:xfrm>
          <a:prstGeom prst="roundRect">
            <a:avLst>
              <a:gd name="adj" fmla="val 2927"/>
            </a:avLst>
          </a:prstGeom>
          <a:solidFill>
            <a:srgbClr val="FFE7BD"/>
          </a:solidFill>
          <a:ln w="12700">
            <a:solidFill>
              <a:srgbClr val="FFE7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58968" y="2121408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Fallback-модель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29992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резервный набор параметров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159752" y="2542032"/>
            <a:ext cx="246888" cy="201168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508760"/>
            <a:ext cx="1874520" cy="25603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78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99248" y="2121408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Запрос метеорологу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99248" y="29992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уточнение METAR / TAF / грозы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400032" y="2542032"/>
            <a:ext cx="246888" cy="201168"/>
          </a:xfrm>
          <a:prstGeom prst="chevron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1508760"/>
            <a:ext cx="1874520" cy="25603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9528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78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39528" y="2121408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1F"/>
                </a:solidFill>
              </a:rPr>
              <a:t>Перерасчет риска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39528" y="29992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новая рекомендация диспетчеру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14400" y="470916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" y="4837176"/>
            <a:ext cx="4407408" cy="79552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0154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93B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3856" y="5102352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Скриншот ошибки / fallback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1170432" y="5349240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индикатор устаревших или резервных данных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217920" y="470916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4837176"/>
            <a:ext cx="4407408" cy="79552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50154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37376" y="5102352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Скриншот запроса метеорологу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6473952" y="5349240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форма уточнения погодных условий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показывает интерфейс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На защите лучше перейти от схем к живой системе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0515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179576"/>
            <a:ext cx="5001768" cy="189280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065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8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50976" y="2542032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Мониторинг рейсов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987552" y="2788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список, фильтры, статусы риска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263640" y="10515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1179576"/>
            <a:ext cx="5001768" cy="189280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065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83096" y="2542032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Карта маршрута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519672" y="2788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точки аэропортов и линия маршрута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785616"/>
            <a:ext cx="3081528" cy="134416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2382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93B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0976" y="4599432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Карточка риска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987552" y="48463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баллы и факторы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4416552" y="365760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785616"/>
            <a:ext cx="3081528" cy="134416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2382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A66A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36008" y="4599432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What-if задержка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672584" y="48463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сравнение риска до / после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101584" y="365760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785616"/>
            <a:ext cx="3081528" cy="134416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42382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FF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21040" y="4599432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Диалог с метеорологом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8357616" y="484632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запрос и ответ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внедрения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Что получилось в проекте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8A78"/>
                </a:solidFill>
              </a:rPr>
              <a:t>Секунды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9848" y="24871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автоматический расчет вместо ручной сверки нескольких источников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611880" y="141732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8A78"/>
                </a:solidFill>
              </a:rPr>
              <a:t>3 этапа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58768" y="24871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вылет, маршрут и прибытие оцениваются отдельно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8A78"/>
                </a:solidFill>
              </a:rPr>
              <a:t>4 сценария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47688" y="24871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создание рейса, риск, fallback, взаимодействие с метеорологом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189720" y="1417320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DFF4E7"/>
          </a:solidFill>
          <a:ln w="12700">
            <a:solidFill>
              <a:srgbClr val="DFF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A66A"/>
                </a:solidFill>
              </a:rPr>
              <a:t>PASS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36608" y="24871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C68"/>
                </a:solidFill>
              </a:rPr>
              <a:t>функциональные сценарии проверки выполнены успешно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1051560" y="4096512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9576" y="4224528"/>
            <a:ext cx="4224528" cy="106984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5399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A66A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71016" y="476402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Статистика тестирования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307592" y="50109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таблица/диаграмма: сценарии PASS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537960" y="4096512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65976" y="4224528"/>
            <a:ext cx="4224528" cy="106984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5399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8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57416" y="476402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Сравнение “до/после”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6793992" y="50109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ручная оценка vs автоматический расчет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6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A78"/>
          </a:solidFill>
          <a:ln w="12700">
            <a:solidFill>
              <a:srgbClr val="1B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996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676888" y="6428232"/>
            <a:ext cx="256032" cy="0"/>
          </a:xfrm>
          <a:prstGeom prst="line">
            <a:avLst/>
          </a:prstGeom>
          <a:noFill/>
          <a:ln w="8890">
            <a:solidFill>
              <a:srgbClr val="5B6C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0" y="6327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C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Демонстрация системы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0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C68"/>
                </a:solidFill>
              </a:rPr>
              <a:t>Переход к практическому сценарию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207008"/>
            <a:ext cx="4800600" cy="4251960"/>
          </a:xfrm>
          <a:prstGeom prst="roundRect">
            <a:avLst>
              <a:gd name="adj" fmla="val 129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64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Показываю полный сценарий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61872" y="2514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1. создание рейса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61872" y="29260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2. расчет риска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61872" y="3337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3. карта маршрута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61872" y="37490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4. запрос метеорологу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5. моделирование задержки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188720"/>
            <a:ext cx="5074920" cy="4251960"/>
          </a:xfrm>
          <a:prstGeom prst="roundRect">
            <a:avLst>
              <a:gd name="adj" fmla="val 1290"/>
            </a:avLst>
          </a:prstGeom>
          <a:solidFill>
            <a:srgbClr val="F0F5F3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316736"/>
            <a:ext cx="4818888" cy="3995928"/>
          </a:xfrm>
          <a:prstGeom prst="rect">
            <a:avLst/>
          </a:prstGeom>
          <a:solidFill>
            <a:srgbClr val="E2EBE8"/>
          </a:solidFill>
          <a:ln w="12700">
            <a:solidFill>
              <a:srgbClr val="D0DE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9524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8"/>
                </a:solidFill>
              </a:rPr>
              <a:t>ФОТО / СКРИНШОТ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91656" y="4782312"/>
            <a:ext cx="4636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211F"/>
                </a:solidFill>
              </a:rPr>
              <a:t>Финальный скриншот системы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6428232" y="50292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B6C68"/>
                </a:solidFill>
              </a:rPr>
              <a:t>лучше поставить главный экран мониторинга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896112" y="5897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</a:rPr>
              <a:t>Спасибо за внимание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886200" y="5952744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5B6C68"/>
                </a:solidFill>
              </a:rPr>
              <a:t>Готова ответить на вопросы по архитектуре, алгоритму риска и пользовательским сценариям.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ГБПОУ «Тверской колледж им. А.Н.Коняева»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мониторинга и анализа погодных условий для авиационных рейсов</dc:title>
  <dc:subject>Дипломный проект</dc:subject>
  <dc:creator>Смирнова Екатерина Сергеевна</dc:creator>
  <cp:lastModifiedBy>Смирнова Екатерина Сергеевна</cp:lastModifiedBy>
  <cp:revision>1</cp:revision>
  <dcterms:created xsi:type="dcterms:W3CDTF">2026-06-07T09:28:06Z</dcterms:created>
  <dcterms:modified xsi:type="dcterms:W3CDTF">2026-06-07T09:28:06Z</dcterms:modified>
</cp:coreProperties>
</file>